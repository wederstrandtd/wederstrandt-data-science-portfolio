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4658"/>
  </p:normalViewPr>
  <p:slideViewPr>
    <p:cSldViewPr snapToGrid="0">
      <p:cViewPr varScale="1">
        <p:scale>
          <a:sx n="120" d="100"/>
          <a:sy n="120" d="100"/>
        </p:scale>
        <p:origin x="9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EC3502-668B-DC47-8828-D947418BA725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8DEEEF-5DF9-284E-9AB5-84570EAA8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995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DEEEF-5DF9-284E-9AB5-84570EAA841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77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DEEEF-5DF9-284E-9AB5-84570EAA841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98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DEEEF-5DF9-284E-9AB5-84570EAA841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678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DEEEF-5DF9-284E-9AB5-84570EAA841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6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DEEEF-5DF9-284E-9AB5-84570EAA841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20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8DEEEF-5DF9-284E-9AB5-84570EAA841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90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7511F-6F37-2441-992E-A2C18A2CCB3F}" type="datetime1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70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27579-4319-294F-8201-75664313F317}" type="datetime1">
              <a:rPr lang="en-US" smtClean="0"/>
              <a:t>6/5/26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861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42C87-030A-2F47-B44A-7A50D47F245F}" type="datetime1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30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4E107-157A-474F-84D0-BC13D581746D}" type="datetime1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67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DBED2-8DC8-5D42-9170-9677765FC462}" type="datetime1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07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12E67-3E8A-AA45-BD7C-D8DC4EE52DBA}" type="datetime1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02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D4641-D346-FF45-9C1C-AE919AE6D8B2}" type="datetime1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3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DAB57-ABD6-3D4F-95D6-FE5571CEF8F9}" type="datetime1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8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ED675-571A-DB43-8BB5-799A2794A2FD}" type="datetime1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11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78429-1865-6844-A531-CC7F00A56F26}" type="datetime1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7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B1B01-49EA-2B49-A6C1-E551BB28E07D}" type="datetime1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27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676B7A9B-D0DB-8F42-AFE0-F8A22B12D36B}" type="datetime1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9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9" r:id="rId6"/>
    <p:sldLayoutId id="2147483704" r:id="rId7"/>
    <p:sldLayoutId id="2147483705" r:id="rId8"/>
    <p:sldLayoutId id="2147483706" r:id="rId9"/>
    <p:sldLayoutId id="2147483708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rends.google.com/trends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hyperlink" Target="https://www.samhsa.gov/data/sites/default/files/DAWN126/DAWN126/sr126-energy-drinks-use.htm" TargetMode="External"/><Relationship Id="rId4" Type="http://schemas.openxmlformats.org/officeDocument/2006/relationships/hyperlink" Target="https://www.verywellhealth.com/energy-drinks-danger-628111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C88933B-CFB2-4662-9CA9-2C1E08385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09EEE1-52DB-4A86-AFCE-CCE904184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89A91-61AF-2671-E5ED-C0BE78097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24846" y="1322508"/>
            <a:ext cx="6935872" cy="3922755"/>
          </a:xfrm>
        </p:spPr>
        <p:txBody>
          <a:bodyPr>
            <a:normAutofit/>
          </a:bodyPr>
          <a:lstStyle/>
          <a:p>
            <a:pPr algn="r"/>
            <a:r>
              <a:rPr lang="en-US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Influence of Energy Drinks on Health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052D44-BB93-3027-0324-86AFC3DBD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89895" y="5691496"/>
            <a:ext cx="6157951" cy="943386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By</a:t>
            </a:r>
          </a:p>
          <a:p>
            <a:pPr algn="r"/>
            <a:r>
              <a:rPr lang="en-US" dirty="0"/>
              <a:t>David </a:t>
            </a:r>
            <a:r>
              <a:rPr lang="en-US" dirty="0" err="1"/>
              <a:t>Wederstandt</a:t>
            </a:r>
            <a:endParaRPr lang="en-US" dirty="0"/>
          </a:p>
        </p:txBody>
      </p:sp>
      <p:pic>
        <p:nvPicPr>
          <p:cNvPr id="4" name="Picture 3" descr="Aesthetic liquid watercolor and ink">
            <a:extLst>
              <a:ext uri="{FF2B5EF4-FFF2-40B4-BE49-F238E27FC236}">
                <a16:creationId xmlns:a16="http://schemas.microsoft.com/office/drawing/2014/main" id="{02A1E9B9-17E4-DDA2-C093-6089C14D01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98" r="41955"/>
          <a:stretch/>
        </p:blipFill>
        <p:spPr>
          <a:xfrm>
            <a:off x="-2573" y="10"/>
            <a:ext cx="4811317" cy="6857988"/>
          </a:xfrm>
          <a:custGeom>
            <a:avLst/>
            <a:gdLst/>
            <a:ahLst/>
            <a:cxnLst/>
            <a:rect l="l" t="t" r="r" b="b"/>
            <a:pathLst>
              <a:path w="4811317" h="6857998">
                <a:moveTo>
                  <a:pt x="0" y="0"/>
                </a:moveTo>
                <a:lnTo>
                  <a:pt x="4811317" y="0"/>
                </a:lnTo>
                <a:lnTo>
                  <a:pt x="2712446" y="6857998"/>
                </a:lnTo>
                <a:lnTo>
                  <a:pt x="0" y="6857998"/>
                </a:lnTo>
                <a:close/>
              </a:path>
            </a:pathLst>
          </a:cu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26FE4BA-3BD1-4AB3-A3EB-39FF16D96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418764" y="0"/>
            <a:ext cx="815637" cy="685734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BD85EF3-E980-4EF9-BF91-C0540D302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15" idx="2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468380"/>
            <a:ext cx="6096000" cy="138961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204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2950D9A-4705-4314-961A-4F88B2CE4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3969F2-ED52-4E5C-B3FC-01E01B8B9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89A91-61AF-2671-E5ED-C0BE78097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558" y="1828800"/>
            <a:ext cx="6946084" cy="2822944"/>
          </a:xfrm>
        </p:spPr>
        <p:txBody>
          <a:bodyPr anchor="t">
            <a:normAutofit/>
          </a:bodyPr>
          <a:lstStyle/>
          <a:p>
            <a:pPr algn="l"/>
            <a:r>
              <a:rPr lang="en-US" sz="3600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 estimated 154 million adults (75% of the us population) drink coffee</a:t>
            </a:r>
            <a:endParaRPr lang="en-US" sz="3600" dirty="0"/>
          </a:p>
        </p:txBody>
      </p:sp>
      <p:pic>
        <p:nvPicPr>
          <p:cNvPr id="4" name="Picture 3" descr="Aesthetic liquid watercolor and ink">
            <a:extLst>
              <a:ext uri="{FF2B5EF4-FFF2-40B4-BE49-F238E27FC236}">
                <a16:creationId xmlns:a16="http://schemas.microsoft.com/office/drawing/2014/main" id="{02A1E9B9-17E4-DDA2-C093-6089C14D01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36" r="35292" b="-2"/>
          <a:stretch/>
        </p:blipFill>
        <p:spPr>
          <a:xfrm>
            <a:off x="5879804" y="-6350"/>
            <a:ext cx="6312196" cy="6874330"/>
          </a:xfrm>
          <a:custGeom>
            <a:avLst/>
            <a:gdLst/>
            <a:ahLst/>
            <a:cxnLst/>
            <a:rect l="l" t="t" r="r" b="b"/>
            <a:pathLst>
              <a:path w="6312196" h="6874330">
                <a:moveTo>
                  <a:pt x="2047193" y="0"/>
                </a:moveTo>
                <a:lnTo>
                  <a:pt x="6312196" y="0"/>
                </a:lnTo>
                <a:lnTo>
                  <a:pt x="6312196" y="6874330"/>
                </a:lnTo>
                <a:lnTo>
                  <a:pt x="0" y="6874330"/>
                </a:lnTo>
                <a:close/>
              </a:path>
            </a:pathLst>
          </a:cu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3AC671C-E66F-43C5-A66A-C477339D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634715" y="0"/>
            <a:ext cx="914401" cy="685734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24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BC88933B-CFB2-4662-9CA9-2C1E08385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909EEE1-52DB-4A86-AFCE-CCE904184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89A91-61AF-2671-E5ED-C0BE78097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6582" y="4639112"/>
            <a:ext cx="8204433" cy="1259757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Trends shows worldwide health searches for Monster energy drink</a:t>
            </a:r>
          </a:p>
        </p:txBody>
      </p:sp>
      <p:pic>
        <p:nvPicPr>
          <p:cNvPr id="4" name="Picture 3" descr="Aesthetic liquid watercolor and ink">
            <a:extLst>
              <a:ext uri="{FF2B5EF4-FFF2-40B4-BE49-F238E27FC236}">
                <a16:creationId xmlns:a16="http://schemas.microsoft.com/office/drawing/2014/main" id="{02A1E9B9-17E4-DDA2-C093-6089C14D01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99" r="41955"/>
          <a:stretch/>
        </p:blipFill>
        <p:spPr>
          <a:xfrm>
            <a:off x="-2573" y="10"/>
            <a:ext cx="4811317" cy="6857988"/>
          </a:xfrm>
          <a:custGeom>
            <a:avLst/>
            <a:gdLst/>
            <a:ahLst/>
            <a:cxnLst/>
            <a:rect l="l" t="t" r="r" b="b"/>
            <a:pathLst>
              <a:path w="4811317" h="6857998">
                <a:moveTo>
                  <a:pt x="0" y="0"/>
                </a:moveTo>
                <a:lnTo>
                  <a:pt x="4811317" y="0"/>
                </a:lnTo>
                <a:lnTo>
                  <a:pt x="2712446" y="6857998"/>
                </a:lnTo>
                <a:lnTo>
                  <a:pt x="0" y="6857998"/>
                </a:lnTo>
                <a:close/>
              </a:path>
            </a:pathLst>
          </a:cu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26FE4BA-3BD1-4AB3-A3EB-39FF16D96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418764" y="0"/>
            <a:ext cx="815637" cy="685734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BD85EF3-E980-4EF9-BF91-C0540D302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15" idx="2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468380"/>
            <a:ext cx="6096000" cy="138961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graph on a computer screen&#10;&#10;Description automatically generated">
            <a:extLst>
              <a:ext uri="{FF2B5EF4-FFF2-40B4-BE49-F238E27FC236}">
                <a16:creationId xmlns:a16="http://schemas.microsoft.com/office/drawing/2014/main" id="{5BE4D842-7B19-D32A-8EA9-8FECECE23B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744" y="657200"/>
            <a:ext cx="7188573" cy="32072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CC25B2-A143-AD6F-64E3-11F2C688236D}"/>
              </a:ext>
            </a:extLst>
          </p:cNvPr>
          <p:cNvSpPr txBox="1"/>
          <p:nvPr/>
        </p:nvSpPr>
        <p:spPr>
          <a:xfrm>
            <a:off x="5627223" y="3746879"/>
            <a:ext cx="6128158" cy="461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i="1" kern="1800" dirty="0">
                <a:solidFill>
                  <a:srgbClr val="0E10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1: Monster Energy (Google Trends2024)</a:t>
            </a: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34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A817523A-D1A4-4AA1-A06E-3E8AA7B4B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4E9E526-05D2-4C66-8B99-CB7BC51F3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89A91-61AF-2671-E5ED-C0BE78097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016" y="4041939"/>
            <a:ext cx="7514438" cy="22031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Trends shows world ranking by country.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 is 6th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C25B2-A143-AD6F-64E3-11F2C688236D}"/>
              </a:ext>
            </a:extLst>
          </p:cNvPr>
          <p:cNvSpPr txBox="1"/>
          <p:nvPr/>
        </p:nvSpPr>
        <p:spPr>
          <a:xfrm>
            <a:off x="1926258" y="3622239"/>
            <a:ext cx="4125985" cy="34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80000"/>
            </a:pPr>
            <a:r>
              <a:rPr lang="en-US" sz="1200" i="1" kern="1800" dirty="0">
                <a:solidFill>
                  <a:srgbClr val="0E10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2: Monster Energy World Rank (Google Trends 2024</a:t>
            </a:r>
            <a:r>
              <a:rPr lang="en-US" sz="1200" b="1" i="1" cap="all" spc="300" dirty="0">
                <a:solidFill>
                  <a:schemeClr val="tx2"/>
                </a:solidFill>
                <a:effectLst/>
              </a:rPr>
              <a:t>)</a:t>
            </a:r>
            <a:endParaRPr lang="en-US" sz="1200" b="1" cap="all" spc="300" dirty="0">
              <a:solidFill>
                <a:schemeClr val="tx2"/>
              </a:solidFill>
              <a:effectLst/>
            </a:endParaRPr>
          </a:p>
        </p:txBody>
      </p:sp>
      <p:pic>
        <p:nvPicPr>
          <p:cNvPr id="4" name="Picture 3" descr="Aesthetic liquid watercolor and ink">
            <a:extLst>
              <a:ext uri="{FF2B5EF4-FFF2-40B4-BE49-F238E27FC236}">
                <a16:creationId xmlns:a16="http://schemas.microsoft.com/office/drawing/2014/main" id="{02A1E9B9-17E4-DDA2-C093-6089C14D01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199" b="-2"/>
          <a:stretch/>
        </p:blipFill>
        <p:spPr>
          <a:xfrm>
            <a:off x="7333213" y="-5965"/>
            <a:ext cx="4858787" cy="6863965"/>
          </a:xfrm>
          <a:custGeom>
            <a:avLst/>
            <a:gdLst/>
            <a:ahLst/>
            <a:cxnLst/>
            <a:rect l="l" t="t" r="r" b="b"/>
            <a:pathLst>
              <a:path w="4233648" h="3434971">
                <a:moveTo>
                  <a:pt x="1032308" y="0"/>
                </a:moveTo>
                <a:lnTo>
                  <a:pt x="4233648" y="0"/>
                </a:lnTo>
                <a:lnTo>
                  <a:pt x="4233648" y="3434971"/>
                </a:lnTo>
                <a:lnTo>
                  <a:pt x="0" y="3434971"/>
                </a:lnTo>
                <a:close/>
              </a:path>
            </a:pathLst>
          </a:cu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F3F47F83-8728-4E0D-BDE6-2C09A035C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95228" y="0"/>
            <a:ext cx="532263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CC9B5A1-ADC5-6CB8-A849-6D0A189579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87" y="542154"/>
            <a:ext cx="6986108" cy="294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91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6CC457A8-96E9-4902-B5AA-212D169CD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F235D52-C9F6-41DA-88E0-4CB351A55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89A91-61AF-2671-E5ED-C0BE78097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4667" y="3513965"/>
            <a:ext cx="6377212" cy="22912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drink caffeine content by brand.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C25B2-A143-AD6F-64E3-11F2C688236D}"/>
              </a:ext>
            </a:extLst>
          </p:cNvPr>
          <p:cNvSpPr txBox="1"/>
          <p:nvPr/>
        </p:nvSpPr>
        <p:spPr>
          <a:xfrm>
            <a:off x="4222503" y="2768143"/>
            <a:ext cx="4265753" cy="482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 kern="1800" dirty="0">
                <a:solidFill>
                  <a:srgbClr val="0E10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3: Energy Drink Caffeine Content[JPG] (Brown 2022) 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esthetic liquid watercolor and ink">
            <a:extLst>
              <a:ext uri="{FF2B5EF4-FFF2-40B4-BE49-F238E27FC236}">
                <a16:creationId xmlns:a16="http://schemas.microsoft.com/office/drawing/2014/main" id="{02A1E9B9-17E4-DDA2-C093-6089C14D01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43" r="31201" b="1"/>
          <a:stretch/>
        </p:blipFill>
        <p:spPr>
          <a:xfrm>
            <a:off x="-2315" y="3415623"/>
            <a:ext cx="3630033" cy="3452833"/>
          </a:xfrm>
          <a:prstGeom prst="rect">
            <a:avLst/>
          </a:prstGeom>
        </p:spPr>
      </p:pic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7E12B2D-1C6C-4602-A3C9-95E703D91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9083040" y="0"/>
            <a:ext cx="3108960" cy="433998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76A2A7DA-2046-4C9B-9C49-92AE548B8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110484" y="5928360"/>
            <a:ext cx="5081516" cy="9296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6B36C06-EBC6-4357-8273-3A3461331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495129" y="11654"/>
            <a:ext cx="1197472" cy="683469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lose-up of a text&#10;&#10;Description automatically generated">
            <a:extLst>
              <a:ext uri="{FF2B5EF4-FFF2-40B4-BE49-F238E27FC236}">
                <a16:creationId xmlns:a16="http://schemas.microsoft.com/office/drawing/2014/main" id="{1BE3A831-86DD-0EB5-4B1D-85879F2FE6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401" y="190163"/>
            <a:ext cx="6210841" cy="262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45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A817523A-D1A4-4AA1-A06E-3E8AA7B4B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4E9E526-05D2-4C66-8B99-CB7BC51F3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089A91-61AF-2671-E5ED-C0BE78097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862" y="807975"/>
            <a:ext cx="5933365" cy="33515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room visits as a result of energy drink consumption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C25B2-A143-AD6F-64E3-11F2C688236D}"/>
              </a:ext>
            </a:extLst>
          </p:cNvPr>
          <p:cNvSpPr txBox="1"/>
          <p:nvPr/>
        </p:nvSpPr>
        <p:spPr>
          <a:xfrm>
            <a:off x="7352364" y="2915857"/>
            <a:ext cx="4418900" cy="549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indent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i="1" kern="1800" dirty="0">
                <a:solidFill>
                  <a:srgbClr val="0E101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4: Emergency Room Visits[JPG] (SAMHSA 2013)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esthetic liquid watercolor and ink">
            <a:extLst>
              <a:ext uri="{FF2B5EF4-FFF2-40B4-BE49-F238E27FC236}">
                <a16:creationId xmlns:a16="http://schemas.microsoft.com/office/drawing/2014/main" id="{02A1E9B9-17E4-DDA2-C093-6089C14D01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292" b="3"/>
          <a:stretch/>
        </p:blipFill>
        <p:spPr>
          <a:xfrm>
            <a:off x="6931629" y="3428996"/>
            <a:ext cx="5260371" cy="3452252"/>
          </a:xfrm>
          <a:custGeom>
            <a:avLst/>
            <a:gdLst/>
            <a:ahLst/>
            <a:cxnLst/>
            <a:rect l="l" t="t" r="r" b="b"/>
            <a:pathLst>
              <a:path w="5260371" h="3434971">
                <a:moveTo>
                  <a:pt x="1028714" y="0"/>
                </a:moveTo>
                <a:lnTo>
                  <a:pt x="5260371" y="0"/>
                </a:lnTo>
                <a:lnTo>
                  <a:pt x="5260371" y="3434971"/>
                </a:lnTo>
                <a:lnTo>
                  <a:pt x="0" y="3423010"/>
                </a:lnTo>
                <a:close/>
              </a:path>
            </a:pathLst>
          </a:custGeom>
        </p:spPr>
      </p:pic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F3F47F83-8728-4E0D-BDE6-2C09A035C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95228" y="0"/>
            <a:ext cx="532263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lose-up of a document&#10;&#10;Description automatically generated">
            <a:extLst>
              <a:ext uri="{FF2B5EF4-FFF2-40B4-BE49-F238E27FC236}">
                <a16:creationId xmlns:a16="http://schemas.microsoft.com/office/drawing/2014/main" id="{AA8597D8-5FE4-6E7B-DC83-B2103FAA32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088" y="904800"/>
            <a:ext cx="5180912" cy="201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55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2B78D151-52A1-46B3-8374-570DA802E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812B206-25E9-4F8B-AED7-8353BA625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49100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142A6D3-8DB2-4EE4-B19A-4C40D070F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0990" y="4849100"/>
            <a:ext cx="2366826" cy="20089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D73BD45-87D9-44BD-8E6F-A575FFD9C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12" idx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849099"/>
            <a:ext cx="3027816" cy="100445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5089A91-61AF-2671-E5ED-C0BE78097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1" y="4337108"/>
            <a:ext cx="11173410" cy="24409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adverse effects outweigh the benefits.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Energy </a:t>
            </a:r>
            <a:r>
              <a:rPr lang="en-US" sz="2400" i="1" kern="1200" cap="all" baseline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drinks should be regulated and require labeling.</a:t>
            </a:r>
            <a:br>
              <a:rPr lang="en-US" sz="2400" i="1" kern="1200" cap="all" baseline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kern="1200" cap="all" baseline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Consumption </a:t>
            </a:r>
            <a:r>
              <a:rPr lang="en-US" sz="2400" i="1" kern="1200" cap="all" baseline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should only be done by adults.</a:t>
            </a:r>
            <a:br>
              <a:rPr lang="en-US" sz="2400" i="1" kern="1200" cap="all" baseline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i="1" kern="1200" cap="all" baseline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esthetic liquid watercolor and ink">
            <a:extLst>
              <a:ext uri="{FF2B5EF4-FFF2-40B4-BE49-F238E27FC236}">
                <a16:creationId xmlns:a16="http://schemas.microsoft.com/office/drawing/2014/main" id="{02A1E9B9-17E4-DDA2-C093-6089C14D01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292" b="3"/>
          <a:stretch/>
        </p:blipFill>
        <p:spPr>
          <a:xfrm>
            <a:off x="533401" y="667104"/>
            <a:ext cx="3543650" cy="2325606"/>
          </a:xfrm>
          <a:prstGeom prst="rect">
            <a:avLst/>
          </a:prstGeom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178E38C-83CD-4BC6-893D-662EF9BFA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602477" y="4849098"/>
            <a:ext cx="339224" cy="200890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965CFDB-63A4-4033-A10B-8444138F6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2420" y="4849097"/>
            <a:ext cx="3309580" cy="138214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7E818249-E7BF-6A16-99AE-B1B26CC90B2B}"/>
              </a:ext>
            </a:extLst>
          </p:cNvPr>
          <p:cNvSpPr txBox="1">
            <a:spLocks/>
          </p:cNvSpPr>
          <p:nvPr/>
        </p:nvSpPr>
        <p:spPr>
          <a:xfrm>
            <a:off x="5218302" y="1160184"/>
            <a:ext cx="4613595" cy="7944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49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2B78D151-52A1-46B3-8374-570DA802E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812B206-25E9-4F8B-AED7-8353BA625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49100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142A6D3-8DB2-4EE4-B19A-4C40D070F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0990" y="4849100"/>
            <a:ext cx="2366826" cy="20089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D73BD45-87D9-44BD-8E6F-A575FFD9C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12" idx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849099"/>
            <a:ext cx="3027816" cy="100445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5089A91-61AF-2671-E5ED-C0BE78097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1" y="3506598"/>
            <a:ext cx="11173410" cy="3271461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 &amp; 2 Google. (n.d.). Monster Energy Drink. Google trends.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https://trends.google.com/trends/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Brown, S. (2022, July 28). How dangerous are energy drinks? Verywell Health.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https://www.verywellhealth.com/energy-drinks-danger-6281116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SAMHSA. (2013, January 10). Update on emergency department visits involving Energy Drinks: A continuing public health concern. The DAWN Report: Update on Emergency Department Visits Involving Energy Drinks: A Continuing Public Health Concern.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https://www.samhsa.gov/data/sites/default/files/DAWN126/DAWN126/sr126-energy-drinks-use.htm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400" i="1" kern="1200" cap="all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3400" dirty="0"/>
            </a:br>
            <a:endParaRPr lang="en-US" sz="3400" i="1" kern="1200" cap="all" baseline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esthetic liquid watercolor and ink">
            <a:extLst>
              <a:ext uri="{FF2B5EF4-FFF2-40B4-BE49-F238E27FC236}">
                <a16:creationId xmlns:a16="http://schemas.microsoft.com/office/drawing/2014/main" id="{02A1E9B9-17E4-DDA2-C093-6089C14D013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292" b="3"/>
          <a:stretch/>
        </p:blipFill>
        <p:spPr>
          <a:xfrm>
            <a:off x="8058827" y="707074"/>
            <a:ext cx="3543650" cy="2325606"/>
          </a:xfrm>
          <a:prstGeom prst="rect">
            <a:avLst/>
          </a:prstGeom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178E38C-83CD-4BC6-893D-662EF9BFA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602477" y="4849098"/>
            <a:ext cx="339224" cy="200890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C965CFDB-63A4-4033-A10B-8444138F6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2420" y="4849097"/>
            <a:ext cx="3309580" cy="138214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7E818249-E7BF-6A16-99AE-B1B26CC90B2B}"/>
              </a:ext>
            </a:extLst>
          </p:cNvPr>
          <p:cNvSpPr txBox="1">
            <a:spLocks/>
          </p:cNvSpPr>
          <p:nvPr/>
        </p:nvSpPr>
        <p:spPr>
          <a:xfrm>
            <a:off x="775677" y="1308513"/>
            <a:ext cx="3850197" cy="6697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i="1" kern="1200" cap="all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93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288</Words>
  <Application>Microsoft Macintosh PowerPoint</Application>
  <PresentationFormat>Widescreen</PresentationFormat>
  <Paragraphs>22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Times New Roman</vt:lpstr>
      <vt:lpstr>Univers Condensed Light</vt:lpstr>
      <vt:lpstr>Walbaum Display Light</vt:lpstr>
      <vt:lpstr>AngleLinesVTI</vt:lpstr>
      <vt:lpstr>The Influence of Energy Drinks on Health </vt:lpstr>
      <vt:lpstr>An estimated 154 million adults (75% of the us population) drink coffee</vt:lpstr>
      <vt:lpstr>Google Trends shows worldwide health searches for Monster energy drink</vt:lpstr>
      <vt:lpstr>Google Trends shows world ranking by country.  Us is 6th</vt:lpstr>
      <vt:lpstr>Energy drink caffeine content by brand.</vt:lpstr>
      <vt:lpstr>Emergency room visits as a result of energy drink consumption </vt:lpstr>
      <vt:lpstr>- The adverse effects outweigh the benefits.  - Energy drinks should be regulated and require labeling.   - Consumption should only be done by adults.  </vt:lpstr>
      <vt:lpstr>Figure 1 &amp; 2 Google. (n.d.). Monster Energy Drink. Google trends. https://trends.google.com/trends/   Brown, S. (2022, July 28). How dangerous are energy drinks? Verywell Health. https://www.verywellhealth.com/energy-drinks-danger-6281116  SAMHSA. (2013, January 10). Update on emergency department visits involving Energy Drinks: A continuing public health concern. The DAWN Report: Update on Emergency Department Visits Involving Energy Drinks: A Continuing Public Health Concern. https://www.samhsa.gov/data/sites/default/files/DAWN126/DAWN126/sr126-energy-drinks-use.htm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Wederstrandt</dc:creator>
  <cp:lastModifiedBy>David Wederstrandt</cp:lastModifiedBy>
  <cp:revision>2</cp:revision>
  <dcterms:created xsi:type="dcterms:W3CDTF">2024-07-21T21:53:10Z</dcterms:created>
  <dcterms:modified xsi:type="dcterms:W3CDTF">2026-06-06T03:02:13Z</dcterms:modified>
</cp:coreProperties>
</file>