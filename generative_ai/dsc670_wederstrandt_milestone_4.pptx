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6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20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EBE2D-827B-B346-B956-C1391978A9B9}" type="datetimeFigureOut">
              <a:rPr lang="en-US" smtClean="0"/>
              <a:t>5/23/26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E47CC-E15B-AB46-B501-8346F3535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0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F4C17208-9754-074D-B28F-2BE4F65E35C7}" type="datetime1">
              <a:rPr lang="en-US" smtClean="0"/>
              <a:t>5/23/26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4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84A0BEF6-B4BC-6243-8606-22ACDA5EC899}" type="datetime1">
              <a:rPr lang="en-US" smtClean="0"/>
              <a:t>5/23/26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698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0FB10-A921-8D4E-8149-4A4E6957CC14}" type="datetime1">
              <a:rPr lang="en-US" smtClean="0"/>
              <a:t>5/23/26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22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0981-7EB9-5446-A69F-6FFD1D50B61D}" type="datetime1">
              <a:rPr lang="en-US" smtClean="0"/>
              <a:t>5/23/26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680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FD61-0D77-C145-AC24-E4E509A34364}" type="datetime1">
              <a:rPr lang="en-US" smtClean="0"/>
              <a:t>5/23/26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97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BF36-8B53-274E-9E1C-3C743E1A635F}" type="datetime1">
              <a:rPr lang="en-US" smtClean="0"/>
              <a:t>5/23/26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6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50BD5-20B8-4548-B918-B380627ADF2C}" type="datetime1">
              <a:rPr lang="en-US" smtClean="0"/>
              <a:t>5/23/26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9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30A8B-AA96-514B-B1D0-962CD94E3A25}" type="datetime1">
              <a:rPr lang="en-US" smtClean="0"/>
              <a:t>5/23/26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87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97E3-C4EA-634F-A25C-526B0F2858FF}" type="datetime1">
              <a:rPr lang="en-US" smtClean="0"/>
              <a:t>5/23/26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34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E1D9-F9C7-1945-9104-69E5449637E0}" type="datetime1">
              <a:rPr lang="en-US" smtClean="0"/>
              <a:t>5/23/26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04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65345-8D31-1E41-8DEB-2FD8FA9F81F9}" type="datetime1">
              <a:rPr lang="en-US" smtClean="0"/>
              <a:t>5/23/26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138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D129-505C-2847-A7F3-2CE5BB5BCC72}" type="datetime1">
              <a:rPr lang="en-US" smtClean="0"/>
              <a:t>5/23/26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859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30827-D43B-7C4B-BE29-46F52FFB34A3}" type="datetime1">
              <a:rPr lang="en-US" smtClean="0"/>
              <a:t>5/23/26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25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22912-5ECE-BF44-91FB-E3F05AD4C9DE}" type="datetime1">
              <a:rPr lang="en-US" smtClean="0"/>
              <a:t>5/23/26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259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A8A7B-A0E9-5846-80F8-B4823075C81A}" type="datetime1">
              <a:rPr lang="en-US" smtClean="0"/>
              <a:t>5/23/26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28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E9565-9BC9-0948-BA5A-8319B7B91390}" type="datetime1">
              <a:rPr lang="en-US" smtClean="0"/>
              <a:t>5/23/26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77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A40B-F44A-2845-A45C-CEF04BC7CDD8}" type="datetime1">
              <a:rPr lang="en-US" smtClean="0"/>
              <a:t>5/23/26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B4591-5FAF-2F47-B464-90C87B97065E}" type="datetime1">
              <a:rPr lang="en-US" smtClean="0"/>
              <a:t>5/23/26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037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DSC670 GenAI</a:t>
            </a:r>
            <a:r>
              <a:rPr dirty="0"/>
              <a:t>: </a:t>
            </a:r>
            <a:br>
              <a:rPr lang="en-US" dirty="0"/>
            </a:br>
            <a:r>
              <a:rPr dirty="0"/>
              <a:t>Copilot Email Triage</a:t>
            </a:r>
            <a:br>
              <a:rPr lang="en-US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David Wederstrandt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806084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524123"/>
            <a:ext cx="7429499" cy="3541714"/>
          </a:xfrm>
        </p:spPr>
        <p:txBody>
          <a:bodyPr/>
          <a:lstStyle/>
          <a:p>
            <a:pPr>
              <a:lnSpc>
                <a:spcPct val="200000"/>
              </a:lnSpc>
              <a:defRPr sz="2000"/>
            </a:pPr>
            <a:r>
              <a:rPr dirty="0"/>
              <a:t>Goal: classify Outlook emails, summarize, and prioritize.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Microsoft Copilot Agents: V1 baseline, V2, V3.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Outlook-only workflow; excludes Teams and SharePoint.</a:t>
            </a:r>
          </a:p>
          <a:p>
            <a:pPr marL="0" indent="0">
              <a:lnSpc>
                <a:spcPct val="200000"/>
              </a:lnSpc>
              <a:buNone/>
              <a:defRPr sz="2000"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29BED-4ED2-D9D1-BC8E-0659098BD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815137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Source Email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524123"/>
            <a:ext cx="7429499" cy="3541714"/>
          </a:xfrm>
        </p:spPr>
        <p:txBody>
          <a:bodyPr/>
          <a:lstStyle/>
          <a:p>
            <a:pPr>
              <a:lnSpc>
                <a:spcPct val="200000"/>
              </a:lnSpc>
              <a:defRPr sz="2000"/>
            </a:pPr>
            <a:r>
              <a:rPr dirty="0"/>
              <a:t>Weder LLC project timeline and deliverables.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Food Bank optional informational reminder email.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Bruin Bulletin newsletter with low urgency.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78360-A7F5-E970-B253-3F4F4C06C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836425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Weder LLC Email</a:t>
            </a:r>
          </a:p>
        </p:txBody>
      </p:sp>
      <p:pic>
        <p:nvPicPr>
          <p:cNvPr id="3" name="Picture 2" descr="wederllc_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30" y="1955549"/>
            <a:ext cx="7314140" cy="32926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24497" y="5419528"/>
            <a:ext cx="469500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lang="en-US" dirty="0"/>
              <a:t>Figure 1: </a:t>
            </a:r>
            <a:r>
              <a:rPr dirty="0"/>
              <a:t>Project timeline email with phases, deadlines, deliverables.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4ED37-46B3-8AF5-46EB-5DECCE890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93052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Food Bank Email</a:t>
            </a:r>
          </a:p>
        </p:txBody>
      </p:sp>
      <p:pic>
        <p:nvPicPr>
          <p:cNvPr id="3" name="Picture 2" descr="food_bank_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31" y="1471467"/>
            <a:ext cx="5559733" cy="414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5751" y="5750309"/>
            <a:ext cx="443249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lang="en-US" dirty="0"/>
              <a:t>Figure 2: </a:t>
            </a:r>
            <a:r>
              <a:rPr dirty="0"/>
              <a:t>Community reminder email for optional food donation.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CF583-F38B-0639-DDF7-5C1F462E5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88651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Bruin Bulletin Email</a:t>
            </a:r>
          </a:p>
        </p:txBody>
      </p:sp>
      <p:pic>
        <p:nvPicPr>
          <p:cNvPr id="3" name="Picture 2" descr="bruin_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84" y="1419839"/>
            <a:ext cx="5609073" cy="42037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01110" y="5737081"/>
            <a:ext cx="430746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lang="en-US" dirty="0"/>
              <a:t>Figure 3: </a:t>
            </a:r>
            <a:r>
              <a:rPr dirty="0"/>
              <a:t>University bulletin email with campus announcements.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DE95C4-AB78-B568-15B6-793F1938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846907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Agent V1: Email Priority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524123"/>
            <a:ext cx="7429499" cy="3541714"/>
          </a:xfrm>
        </p:spPr>
        <p:txBody>
          <a:bodyPr/>
          <a:lstStyle/>
          <a:p>
            <a:pPr>
              <a:lnSpc>
                <a:spcPct val="200000"/>
              </a:lnSpc>
              <a:defRPr sz="2000"/>
            </a:pPr>
            <a:r>
              <a:rPr dirty="0"/>
              <a:t>Classifies emails: High, Medium, or Low.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Summaries are concise and easy to scan.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Uses Unclassified when confidence is 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2778B-8A10-B579-EEA3-FC42AC706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843591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Agent V1 Setup</a:t>
            </a:r>
          </a:p>
        </p:txBody>
      </p:sp>
      <p:pic>
        <p:nvPicPr>
          <p:cNvPr id="3" name="Picture 2" descr="agent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607" y="1288642"/>
            <a:ext cx="4690785" cy="4777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47153" y="6102206"/>
            <a:ext cx="382483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lang="en-US" dirty="0"/>
              <a:t>Figure 4: </a:t>
            </a:r>
            <a:r>
              <a:rPr dirty="0"/>
              <a:t>V1 Copilot setup for baseline Outlook triage.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CA4A1-4242-E9DA-7FC0-38056D2D9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830533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Outlook Summary V1</a:t>
            </a:r>
          </a:p>
        </p:txBody>
      </p:sp>
      <p:pic>
        <p:nvPicPr>
          <p:cNvPr id="3" name="Picture 2" descr="outlook_summary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790" y="1188179"/>
            <a:ext cx="4628420" cy="44816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11311" y="5883275"/>
            <a:ext cx="432137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lang="en-US" dirty="0"/>
              <a:t>Figure 5: Weder LLC </a:t>
            </a:r>
            <a:r>
              <a:rPr dirty="0"/>
              <a:t>V1 summary with priority and next steps.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3A6D0-B136-788B-D1BC-68FA62AC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837856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Food Bank Summary V1</a:t>
            </a:r>
          </a:p>
        </p:txBody>
      </p:sp>
      <p:pic>
        <p:nvPicPr>
          <p:cNvPr id="3" name="Picture 2" descr="food_bank_email_summary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535" y="1300609"/>
            <a:ext cx="4828930" cy="42567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89408" y="5737081"/>
            <a:ext cx="403950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lang="en-US" dirty="0"/>
              <a:t>Figure 6: </a:t>
            </a:r>
            <a:r>
              <a:rPr dirty="0"/>
              <a:t>V1 marks informational reminder as low priority.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C8107-050B-7D90-FA42-6FAD8B3E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789547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Bruin Summary V1</a:t>
            </a:r>
          </a:p>
        </p:txBody>
      </p:sp>
      <p:pic>
        <p:nvPicPr>
          <p:cNvPr id="3" name="Picture 2" descr="bruin_email_summary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186" y="1374821"/>
            <a:ext cx="6651625" cy="4108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9756" y="5623560"/>
            <a:ext cx="337881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lang="en-US" dirty="0"/>
              <a:t>Figure 7: </a:t>
            </a:r>
            <a:r>
              <a:rPr dirty="0"/>
              <a:t>V1 classifies newsletter as low priority.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A1E03-2A15-9570-23CC-12C6910C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806084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Agent V2: Bruin Email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524123"/>
            <a:ext cx="7429499" cy="3541714"/>
          </a:xfrm>
        </p:spPr>
        <p:txBody>
          <a:bodyPr/>
          <a:lstStyle/>
          <a:p>
            <a:pPr>
              <a:lnSpc>
                <a:spcPct val="200000"/>
              </a:lnSpc>
              <a:defRPr sz="2000"/>
            </a:pPr>
            <a:r>
              <a:rPr dirty="0"/>
              <a:t>Adds explicit classification and confidence rules.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Requires labeled sections and clearer rationale.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Improves next steps and reply drafts.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DE0A3-E523-DBAE-34C2-77BFDBB7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779598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Agent V2 Setup</a:t>
            </a:r>
          </a:p>
        </p:txBody>
      </p:sp>
      <p:pic>
        <p:nvPicPr>
          <p:cNvPr id="3" name="Picture 2" descr="agent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351" y="1388685"/>
            <a:ext cx="4022913" cy="45968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4347" y="6065837"/>
            <a:ext cx="367254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lang="en-US" dirty="0"/>
              <a:t>Figure 8: </a:t>
            </a:r>
            <a:r>
              <a:rPr dirty="0"/>
              <a:t>V2 setup adds rules and confidence policy.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45005-843B-7189-AA96-B4F57377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734329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Outlook Summary V2</a:t>
            </a:r>
          </a:p>
        </p:txBody>
      </p:sp>
      <p:pic>
        <p:nvPicPr>
          <p:cNvPr id="3" name="Picture 2" descr="outlook_summary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485" y="1343139"/>
            <a:ext cx="5781029" cy="42804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97780" y="5737081"/>
            <a:ext cx="364087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lang="en-US" dirty="0"/>
              <a:t>Figure 9: </a:t>
            </a:r>
            <a:r>
              <a:rPr dirty="0"/>
              <a:t>V2 output adds clearer structured sections.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A0195E-AA15-E3E2-ABBF-1F7E189EF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707170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Food Bank Summary V2</a:t>
            </a:r>
          </a:p>
        </p:txBody>
      </p:sp>
      <p:pic>
        <p:nvPicPr>
          <p:cNvPr id="3" name="Picture 2" descr="food_bank_email_summary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185" y="1243495"/>
            <a:ext cx="6157629" cy="4786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75123" y="6102206"/>
            <a:ext cx="339375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lang="en-US" dirty="0"/>
              <a:t>Figure 9: </a:t>
            </a:r>
            <a:r>
              <a:rPr dirty="0"/>
              <a:t>V2 gives clearer rationale and actions.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6F12E-E801-339C-DA33-A9A67831D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681337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Bruin Summary V2</a:t>
            </a:r>
          </a:p>
        </p:txBody>
      </p:sp>
      <p:pic>
        <p:nvPicPr>
          <p:cNvPr id="3" name="Picture 2" descr="bruin_email_summary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992" y="1279707"/>
            <a:ext cx="7100015" cy="4079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71733" y="5475269"/>
            <a:ext cx="463864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lang="en-US" dirty="0"/>
              <a:t>Figure 10: </a:t>
            </a:r>
            <a:r>
              <a:rPr dirty="0"/>
              <a:t>V2 improves newsletter summary consistency and clarity.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BB4FD-C196-20BC-D7DE-112F80C8D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714010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Agent V3: Bruin Email Agent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441149"/>
            <a:ext cx="7429499" cy="3541714"/>
          </a:xfrm>
        </p:spPr>
        <p:txBody>
          <a:bodyPr/>
          <a:lstStyle/>
          <a:p>
            <a:pPr>
              <a:lnSpc>
                <a:spcPct val="200000"/>
              </a:lnSpc>
              <a:defRPr sz="2000"/>
            </a:pPr>
            <a:r>
              <a:rPr dirty="0"/>
              <a:t>Applies strict quality and consistency checks.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Strengthens evidence-based confidence alignment.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Delivers most polished narrative output.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F8630-9302-8F46-3A16-A97E652B5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20158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Agent V3 Setup</a:t>
            </a:r>
          </a:p>
        </p:txBody>
      </p:sp>
      <p:pic>
        <p:nvPicPr>
          <p:cNvPr id="3" name="Picture 2" descr="agent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312" y="1126476"/>
            <a:ext cx="4694163" cy="48252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87484" y="6022079"/>
            <a:ext cx="346146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lang="en-US" dirty="0"/>
              <a:t>Figure 11: </a:t>
            </a:r>
            <a:r>
              <a:rPr dirty="0"/>
              <a:t>V3 setup enforces strict quality checks.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FE551-A6F1-0FE7-A385-FA000BE66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62814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Outlook Summary V3</a:t>
            </a:r>
          </a:p>
        </p:txBody>
      </p:sp>
      <p:pic>
        <p:nvPicPr>
          <p:cNvPr id="3" name="Picture 2" descr="outlook_summary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62" y="1500264"/>
            <a:ext cx="7080475" cy="34983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77868" y="5294771"/>
            <a:ext cx="418826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lang="en-US" dirty="0"/>
              <a:t>Figure 12: </a:t>
            </a:r>
            <a:r>
              <a:rPr dirty="0"/>
              <a:t>V3 best aligns priority, confidence, and rationale.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3580A-B2DA-D572-8ABE-69D4C481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81484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Food Bank Summary </a:t>
            </a:r>
          </a:p>
        </p:txBody>
      </p:sp>
      <p:pic>
        <p:nvPicPr>
          <p:cNvPr id="3" name="Picture 2" descr="food_bank_email_summary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806" y="1274112"/>
            <a:ext cx="6122388" cy="4309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00130" y="5735758"/>
            <a:ext cx="403617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lang="en-US" dirty="0"/>
              <a:t>Figure 13: </a:t>
            </a:r>
            <a:r>
              <a:rPr dirty="0"/>
              <a:t>V3 keeps low-priority decision concise, specific.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9E9A0-0BA5-8CD8-823E-F1BC6A1D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07170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Bruin Summary V3</a:t>
            </a:r>
          </a:p>
        </p:txBody>
      </p:sp>
      <p:pic>
        <p:nvPicPr>
          <p:cNvPr id="3" name="Picture 2" descr="bruin_email_summary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721" y="1329616"/>
            <a:ext cx="6651414" cy="4198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53783" y="5737081"/>
            <a:ext cx="429265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rPr lang="en-US" dirty="0"/>
              <a:t>Figure 14: </a:t>
            </a:r>
            <a:r>
              <a:rPr dirty="0"/>
              <a:t>V3 delivers cleanest professional newsletter triage.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CE365-CB0D-8245-E920-61858DB79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11105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524123"/>
            <a:ext cx="7429499" cy="3541714"/>
          </a:xfrm>
        </p:spPr>
        <p:txBody>
          <a:bodyPr/>
          <a:lstStyle/>
          <a:p>
            <a:pPr>
              <a:lnSpc>
                <a:spcPct val="200000"/>
              </a:lnSpc>
              <a:defRPr sz="2000"/>
            </a:pPr>
            <a:r>
              <a:rPr dirty="0"/>
              <a:t>V1 to V3 showed measurable quality gains.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V1 baseline; V2 structure; V3 consistency.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V3 gave clearest actions and best rationale.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Prompt guardrails improved triage reliability.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35993-A0BF-A12D-B9BA-427F60B4A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29212"/>
          </a:xfrm>
        </p:spPr>
        <p:txBody>
          <a:bodyPr/>
          <a:lstStyle/>
          <a:p>
            <a:r>
              <a:rPr lang="en-US" dirty="0"/>
              <a:t>       </a:t>
            </a:r>
            <a:r>
              <a:rPr dirty="0"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629732"/>
            <a:ext cx="7429499" cy="3541714"/>
          </a:xfrm>
        </p:spPr>
        <p:txBody>
          <a:bodyPr/>
          <a:lstStyle/>
          <a:p>
            <a:pPr>
              <a:lnSpc>
                <a:spcPct val="200000"/>
              </a:lnSpc>
              <a:defRPr sz="2000"/>
            </a:pPr>
            <a:r>
              <a:rPr dirty="0"/>
              <a:t>Validate V3 on larger inbox samples.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Measure confidence calibration against reviewer agreement.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Track completeness, grounding, and actionability metrics.</a:t>
            </a:r>
          </a:p>
          <a:p>
            <a:pPr>
              <a:lnSpc>
                <a:spcPct val="200000"/>
              </a:lnSpc>
              <a:defRPr sz="2000"/>
            </a:pPr>
            <a:r>
              <a:rPr dirty="0"/>
              <a:t>Refine ambiguous ownership and deadline handling.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D31AB-1002-8F1B-919B-72E5E8B5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58</TotalTime>
  <Words>468</Words>
  <Application>Microsoft Macintosh PowerPoint</Application>
  <PresentationFormat>On-screen Show (4:3)</PresentationFormat>
  <Paragraphs>86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Tw Cen MT</vt:lpstr>
      <vt:lpstr>Circuit</vt:lpstr>
      <vt:lpstr>DSC670 GenAI:  Copilot Email Triage </vt:lpstr>
      <vt:lpstr>       Introduction</vt:lpstr>
      <vt:lpstr>       Source Email Examples</vt:lpstr>
      <vt:lpstr>       Weder LLC Email</vt:lpstr>
      <vt:lpstr>       Food Bank Email</vt:lpstr>
      <vt:lpstr>       Bruin Bulletin Email</vt:lpstr>
      <vt:lpstr>       Agent V1: Email Priority Assistant</vt:lpstr>
      <vt:lpstr>       Agent V1 Setup</vt:lpstr>
      <vt:lpstr>       Outlook Summary V1</vt:lpstr>
      <vt:lpstr>       Food Bank Summary V1</vt:lpstr>
      <vt:lpstr>       Bruin Summary V1</vt:lpstr>
      <vt:lpstr>       Agent V2: Bruin Email Agent</vt:lpstr>
      <vt:lpstr>       Agent V2 Setup</vt:lpstr>
      <vt:lpstr>       Outlook Summary V2</vt:lpstr>
      <vt:lpstr>       Food Bank Summary V2</vt:lpstr>
      <vt:lpstr>       Bruin Summary V2</vt:lpstr>
      <vt:lpstr>       Agent V3: Bruin Email Agent Final</vt:lpstr>
      <vt:lpstr>       Agent V3 Setup</vt:lpstr>
      <vt:lpstr>       Outlook Summary V3</vt:lpstr>
      <vt:lpstr>       Food Bank Summary </vt:lpstr>
      <vt:lpstr>       Bruin Summary V3</vt:lpstr>
      <vt:lpstr>       Conclusion</vt:lpstr>
      <vt:lpstr>      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Wederstrandt</cp:lastModifiedBy>
  <cp:revision>11</cp:revision>
  <dcterms:created xsi:type="dcterms:W3CDTF">2013-01-27T09:14:16Z</dcterms:created>
  <dcterms:modified xsi:type="dcterms:W3CDTF">2026-05-23T17:12:55Z</dcterms:modified>
  <cp:category/>
</cp:coreProperties>
</file>